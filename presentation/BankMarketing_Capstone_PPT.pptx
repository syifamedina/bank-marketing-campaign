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59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</a:rPr>
              <a:t>CAPSTONE PROJECT · 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Campaign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Term Deposit Subscription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Medina </a:t>
            </a:r>
            <a:r>
              <a:rPr lang="en-US" sz="1100" dirty="0" err="1">
                <a:solidFill>
                  <a:srgbClr val="718096"/>
                </a:solidFill>
              </a:rPr>
              <a:t>Assyifa</a:t>
            </a:r>
            <a:r>
              <a:rPr lang="en-US" sz="1100" dirty="0">
                <a:solidFill>
                  <a:srgbClr val="718096"/>
                </a:solidFill>
              </a:rPr>
              <a:t>  ·  Job Connector Program — AI Engineer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1920240" cy="77724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33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7,813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Dataset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4114800"/>
            <a:ext cx="1920240" cy="77724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4133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4114800"/>
            <a:ext cx="1920240" cy="77724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133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Classification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Approach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4114800"/>
            <a:ext cx="1920240" cy="77724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4133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Final Model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051560"/>
          </a:xfrm>
          <a:prstGeom prst="rect">
            <a:avLst/>
          </a:prstGeom>
          <a:solidFill>
            <a:srgbClr val="E0F2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 bank runs a telemarketing campaign to sell </a:t>
            </a:r>
            <a:r>
              <a:rPr lang="en-US" sz="1300" b="1" dirty="0">
                <a:solidFill>
                  <a:srgbClr val="1E293B"/>
                </a:solidFill>
              </a:rPr>
              <a:t>term deposit products</a:t>
            </a:r>
            <a:r>
              <a:rPr lang="en-US" sz="1300" dirty="0">
                <a:solidFill>
                  <a:srgbClr val="1E293B"/>
                </a:solidFill>
              </a:rPr>
              <a:t> to customers via phone calls. The challenge: customers are contacted </a:t>
            </a:r>
            <a:r>
              <a:rPr lang="en-US" sz="1300" b="1" dirty="0">
                <a:solidFill>
                  <a:srgbClr val="1E293B"/>
                </a:solidFill>
              </a:rPr>
              <a:t>randomly without a targeting strategy</a:t>
            </a:r>
            <a:r>
              <a:rPr lang="en-US" sz="1300" dirty="0">
                <a:solidFill>
                  <a:srgbClr val="1E293B"/>
                </a:solidFill>
              </a:rPr>
              <a:t> — wasting agent time and operational costs on non-converting customers.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Stakeholder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578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Management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2004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team managing outbound call campaigns to acquire new term deposit customers.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19456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945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Problem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64992" y="2578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 of calls yield no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32004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4,081 out of 7,813 contacts resulted in rejection — a significant waste of resources.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945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Goal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9632" y="2578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subscription likelihood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32004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Build a model to prioritize high-probability customers, reducing wasted calls.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Target Variable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30033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YES  —  3,732  (47.8%)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985333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391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 —  4,081  (52.2%)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Relatively balanced — no severe class imbalance.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0" cy="39319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Features (11 columns)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Numeric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7607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 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28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Categorical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7607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Occupation 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Numeric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6072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Annual avg. balance (EUR)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7432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Binary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6072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Has housing loan?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00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Binary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607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Has personal loan?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6576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Numeric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76072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 contacts this campaign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1148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Categorical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76072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poutcome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Previous campaign result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5720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572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TARGET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76072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Subscribed? (yes/no)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Analytic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64208" y="1325880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828800"/>
            <a:ext cx="1600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8288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Outlier capping (IQR)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 missing 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0058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19856" y="1325880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4248" y="1828800"/>
            <a:ext cx="1600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18288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246888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was_contacted_before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age_group · balance_category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42816" y="10058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75504" y="1325880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9896" y="1828800"/>
            <a:ext cx="1600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39896" y="18288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Encoding &amp; Scaling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31336" y="246888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Binary + One-Hot Encoding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StandardScaler (train only)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10058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31152" y="1325880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5544" y="1828800"/>
            <a:ext cx="1600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544" y="18288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6984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Modeling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86984" y="246888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5 baseline models compared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XGBoost selected as final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54112" y="10058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51192" y="1828800"/>
            <a:ext cx="1600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51192" y="18288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2632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42632" y="246888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Recall · F1-Score · ROC AUC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Business impact simulation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Binary Classification chosen because target variable deposit is binary (yes / no) — predicting class membership, not a continuous value.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E0F2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Business Priority: </a:t>
            </a:r>
            <a:r>
              <a:rPr lang="en-US" sz="1200" dirty="0">
                <a:solidFill>
                  <a:srgbClr val="1E293B"/>
                </a:solidFill>
              </a:rPr>
              <a:t>Missing a customer who would subscribe (False Negative) costs the bank revenue. Contacting someone who won't subscribe (False Positive) wastes agent time — but is less costly. Therefore: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65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PRIMARY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Maximize detection of customers who will subscribe. Minimizes False Negatives — the costliest error.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874520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965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</a:rPr>
              <a:t>SECONDARY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 × R) / (P + 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246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Balances Precision and Recall. Ensures we don't sacrifice too much precision while improving recall.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874520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965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</a:rPr>
              <a:t>SUPPORTING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under ROC curve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246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Overall discrimination ability of the model. 1.0 = perfect, 0.5 = random guess.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Model: XGBoost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How XGBoost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Start with initial 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Begin with a base value (e.g., mean of target).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Calculate residual errors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2311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Compare predictions to actual labels — find what went wrong.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88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6883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Build a new tree on residuals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8895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Each new decision tree learns from previous errors.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34670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Add tree to ensemble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5478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Update predictions: new_pred = old_pred + (learning_rate × tree_output).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0050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Repeat until optimal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 iterates n_estimators times with regularization (L1 &amp; L2).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914400"/>
            <a:ext cx="0" cy="39319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Why XGBoost for This Dataset?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0" y="1417320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050" b="1" dirty="0">
                <a:solidFill>
                  <a:srgbClr val="1E293B"/>
                </a:solidFill>
              </a:rPr>
              <a:t>Tabular data specialist — </a:t>
            </a:r>
            <a:r>
              <a:rPr lang="en-US" sz="1050" dirty="0">
                <a:solidFill>
                  <a:srgbClr val="64748B"/>
                </a:solidFill>
              </a:rPr>
              <a:t>Outperforms neural networks on structured mixed-type data.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075688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0756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050" b="1" dirty="0">
                <a:solidFill>
                  <a:srgbClr val="1E293B"/>
                </a:solidFill>
              </a:rPr>
              <a:t>Built-in regularization — </a:t>
            </a:r>
            <a:r>
              <a:rPr lang="en-US" sz="1050" dirty="0">
                <a:solidFill>
                  <a:srgbClr val="64748B"/>
                </a:solidFill>
              </a:rPr>
              <a:t>L1 &amp; L2 penalties prevent overfitting automatically.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2734056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273405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050" b="1" dirty="0">
                <a:solidFill>
                  <a:srgbClr val="1E293B"/>
                </a:solidFill>
              </a:rPr>
              <a:t>Robust to outliers — </a:t>
            </a:r>
            <a:r>
              <a:rPr lang="en-US" sz="1050" dirty="0">
                <a:solidFill>
                  <a:srgbClr val="64748B"/>
                </a:solidFill>
              </a:rPr>
              <a:t>Tree-based splits are not affected by extreme values.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392424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39242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050" b="1" dirty="0">
                <a:solidFill>
                  <a:srgbClr val="1E293B"/>
                </a:solidFill>
              </a:rPr>
              <a:t>Handles mixed types — </a:t>
            </a:r>
            <a:r>
              <a:rPr lang="en-US" sz="1050" dirty="0">
                <a:solidFill>
                  <a:srgbClr val="64748B"/>
                </a:solidFill>
              </a:rPr>
              <a:t>Works with numeric and encoded categorical features.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0" y="4050792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40507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050" b="1" dirty="0">
                <a:solidFill>
                  <a:srgbClr val="1E293B"/>
                </a:solidFill>
              </a:rPr>
              <a:t>Fast &amp; tunable — </a:t>
            </a:r>
            <a:r>
              <a:rPr lang="en-US" sz="1050" dirty="0">
                <a:solidFill>
                  <a:srgbClr val="64748B"/>
                </a:solidFill>
              </a:rPr>
              <a:t>GridSearchCV tuning optimizes for recall efficiently.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Final Model Performance (XGBoost + Tuning)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508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1508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[0.63]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Primary metric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1325880"/>
            <a:ext cx="1508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325880"/>
            <a:ext cx="1508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[0.66]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57400" y="2057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F1-Score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3774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Supporting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325880"/>
            <a:ext cx="1508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325880"/>
            <a:ext cx="1508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4173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[0.7449]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20574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ROC AUC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3774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Overall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F4444"/>
                </a:solidFill>
              </a:rPr>
              <a:t>⚠  Fill in actual values after running the notebook!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0" y="914400"/>
            <a:ext cx="0" cy="39319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Baseline Model Comparison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25880"/>
          <a:ext cx="3291840" cy="257860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ROC AUC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Logistic Reg.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Grad. Boosting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XGBoost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BEST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BEST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57784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Fill actual metric values after running the notebook.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65760" y="3108960"/>
            <a:ext cx="4754880" cy="1737360"/>
          </a:xfrm>
          <a:prstGeom prst="rect">
            <a:avLst/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3200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Business Impact Simulation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356616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Without model: </a:t>
            </a:r>
            <a:r>
              <a:rPr lang="en-US" sz="1100" dirty="0">
                <a:solidFill>
                  <a:srgbClr val="64748B"/>
                </a:solidFill>
              </a:rPr>
              <a:t>Contact all 1,563 customers in test set
</a:t>
            </a:r>
            <a:r>
              <a:rPr lang="en-US" sz="1100" b="1" dirty="0">
                <a:solidFill>
                  <a:srgbClr val="1E293B"/>
                </a:solidFill>
              </a:rPr>
              <a:t>With model: </a:t>
            </a:r>
            <a:r>
              <a:rPr lang="en-US" sz="1100" dirty="0">
                <a:solidFill>
                  <a:srgbClr val="64748B"/>
                </a:solidFill>
              </a:rPr>
              <a:t>Contact only predicted-yes customers
</a:t>
            </a:r>
            <a:r>
              <a:rPr lang="en-US" sz="1100" b="1" dirty="0">
                <a:solidFill>
                  <a:srgbClr val="1E293B"/>
                </a:solidFill>
              </a:rPr>
              <a:t>Result: </a:t>
            </a:r>
            <a:r>
              <a:rPr lang="en-US" sz="1100" dirty="0">
                <a:solidFill>
                  <a:srgbClr val="64748B"/>
                </a:solidFill>
              </a:rPr>
              <a:t>Significant reduction in wasted calls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with high conversion rate on prioritized list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When can the model be trusted?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When should we be cautious?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Reliable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82496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✓  Customer profile similar to training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03704"/>
            <a:ext cx="4114800" cy="429768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03704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✓  Previous campaign outcome (poutcome) is available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24912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✓  Contact count per customer is reasonable (&lt; 10)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114800" cy="429768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4612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✓  Contact channel information is known (not 'unknown')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1148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 Use with caution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682496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82496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⚠  Most features are 'unknown' — no customer history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03704"/>
            <a:ext cx="4114800" cy="429768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03704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⚠  Entirely new customer segments or product types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724912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24912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⚠  Major macroeconomic shifts (crisis, high inflation)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246120"/>
            <a:ext cx="4114800" cy="429768"/>
          </a:xfrm>
          <a:prstGeom prst="rect">
            <a:avLst/>
          </a:prstGeom>
          <a:solidFill>
            <a:srgbClr val="F8F8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4612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⚠  Campaign deployed on a new, unseen contact channel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886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Project Limitations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60520"/>
          <a:ext cx="8412480" cy="944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Data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Only 7,813 rows — generalization may be limited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Features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 columns only — income, education, call duration missing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Does not capture macroeconomic / seasonal trends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Recommendation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 XGBoost classification model was built to predict term deposit subscription with strong Recall and ROC AUC scores (0.7449). By using this model, the marketing team can prioritize high-probability customers, meaningfully reducing the number of unproductive calls and improving campaign conversion rate.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Business Recommendations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249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24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Prioritize customers with poutcome = success from past campaigns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278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Limit contact attempts to ≤ 3–4 calls per customer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307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Focus campaigns in months with historically high conversion rates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2336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Segment by balance: mid-to-high balance customers are more responsive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0" cy="25603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Technical Improvements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7249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Add more historical data for better generalization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2278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Include macroeconomic features (interest rate, inflation)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730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Implement SHAP values for per-prediction explainability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4233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Set up model monitoring &amp; quarterly re-training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7365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Use cost-sensitive learning with custom threshold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1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</a:rPr>
              <a:t>Bank Marketing Campaign — Term Deposit Subscription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</a:rPr>
              <a:t>Capstone Project Module 2  ·  Job Connector Program — AI Engineer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737360" cy="82296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50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7,813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3616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Rows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3931920"/>
            <a:ext cx="1737360" cy="82296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950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43616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Final Model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737360" cy="82296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50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3616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Primary Metric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3931920"/>
            <a:ext cx="1737360" cy="822960"/>
          </a:xfrm>
          <a:prstGeom prst="rect">
            <a:avLst/>
          </a:prstGeom>
          <a:solidFill>
            <a:srgbClr val="3D4A6B"/>
          </a:solidFill>
          <a:ln w="12700">
            <a:solidFill>
              <a:srgbClr val="3D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950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GridSearchCV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43616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</a:rPr>
              <a:t>Tuning Method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1003</Words>
  <Application>Microsoft Office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— Term Deposit Prediction</dc:title>
  <dc:subject>PptxGenJS Presentation</dc:subject>
  <dc:creator>Syifa</dc:creator>
  <cp:lastModifiedBy>medin syf</cp:lastModifiedBy>
  <cp:revision>2</cp:revision>
  <dcterms:created xsi:type="dcterms:W3CDTF">2026-04-02T04:52:57Z</dcterms:created>
  <dcterms:modified xsi:type="dcterms:W3CDTF">2026-04-02T13:30:03Z</dcterms:modified>
</cp:coreProperties>
</file>